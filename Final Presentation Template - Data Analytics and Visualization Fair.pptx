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321" r:id="rId3"/>
    <p:sldId id="322" r:id="rId4"/>
    <p:sldId id="323" r:id="rId5"/>
    <p:sldId id="324" r:id="rId6"/>
    <p:sldId id="325" r:id="rId7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7A3B1-F0DD-40CB-9762-8F85F2FB127B}" v="29" dt="2025-12-12T02:26:22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non Keeney" userId="928a54f0d31a2e0c" providerId="LiveId" clId="{F699A8C7-B115-497A-8A6E-28AB7336ACE3}"/>
    <pc:docChg chg="custSel modSld">
      <pc:chgData name="Shannon Keeney" userId="928a54f0d31a2e0c" providerId="LiveId" clId="{F699A8C7-B115-497A-8A6E-28AB7336ACE3}" dt="2025-12-12T02:26:22.099" v="562" actId="27918"/>
      <pc:docMkLst>
        <pc:docMk/>
      </pc:docMkLst>
      <pc:sldChg chg="modSp mod">
        <pc:chgData name="Shannon Keeney" userId="928a54f0d31a2e0c" providerId="LiveId" clId="{F699A8C7-B115-497A-8A6E-28AB7336ACE3}" dt="2025-12-10T03:42:36.863" v="286" actId="20577"/>
        <pc:sldMkLst>
          <pc:docMk/>
          <pc:sldMk cId="2819199712" sldId="322"/>
        </pc:sldMkLst>
        <pc:spChg chg="mod">
          <ac:chgData name="Shannon Keeney" userId="928a54f0d31a2e0c" providerId="LiveId" clId="{F699A8C7-B115-497A-8A6E-28AB7336ACE3}" dt="2025-12-10T03:42:36.863" v="286" actId="20577"/>
          <ac:spMkLst>
            <pc:docMk/>
            <pc:sldMk cId="2819199712" sldId="322"/>
            <ac:spMk id="3" creationId="{0E91039A-F179-CBA8-2414-DEAAD5C28EE0}"/>
          </ac:spMkLst>
        </pc:spChg>
      </pc:sldChg>
      <pc:sldChg chg="addSp delSp modSp mod">
        <pc:chgData name="Shannon Keeney" userId="928a54f0d31a2e0c" providerId="LiveId" clId="{F699A8C7-B115-497A-8A6E-28AB7336ACE3}" dt="2025-12-12T02:26:22.099" v="562" actId="27918"/>
        <pc:sldMkLst>
          <pc:docMk/>
          <pc:sldMk cId="531640417" sldId="323"/>
        </pc:sldMkLst>
        <pc:spChg chg="mod">
          <ac:chgData name="Shannon Keeney" userId="928a54f0d31a2e0c" providerId="LiveId" clId="{F699A8C7-B115-497A-8A6E-28AB7336ACE3}" dt="2025-12-10T03:25:04.105" v="22" actId="20577"/>
          <ac:spMkLst>
            <pc:docMk/>
            <pc:sldMk cId="531640417" sldId="323"/>
            <ac:spMk id="2" creationId="{90F593CE-6349-9211-EEAC-14E94C6D1E3F}"/>
          </ac:spMkLst>
        </pc:spChg>
        <pc:spChg chg="mod">
          <ac:chgData name="Shannon Keeney" userId="928a54f0d31a2e0c" providerId="LiveId" clId="{F699A8C7-B115-497A-8A6E-28AB7336ACE3}" dt="2025-12-10T03:37:29.645" v="267" actId="20577"/>
          <ac:spMkLst>
            <pc:docMk/>
            <pc:sldMk cId="531640417" sldId="323"/>
            <ac:spMk id="9" creationId="{08C5CC6A-7BC5-4AAC-BAEE-B990537AF0F9}"/>
          </ac:spMkLst>
        </pc:spChg>
        <pc:spChg chg="add mod">
          <ac:chgData name="Shannon Keeney" userId="928a54f0d31a2e0c" providerId="LiveId" clId="{F699A8C7-B115-497A-8A6E-28AB7336ACE3}" dt="2025-12-10T03:44:37.617" v="310" actId="14100"/>
          <ac:spMkLst>
            <pc:docMk/>
            <pc:sldMk cId="531640417" sldId="323"/>
            <ac:spMk id="10" creationId="{6B060DC9-5B1C-05C9-ACC4-ABE7CF6F8EB1}"/>
          </ac:spMkLst>
        </pc:spChg>
        <pc:spChg chg="add mod">
          <ac:chgData name="Shannon Keeney" userId="928a54f0d31a2e0c" providerId="LiveId" clId="{F699A8C7-B115-497A-8A6E-28AB7336ACE3}" dt="2025-12-10T03:39:10.587" v="275" actId="1076"/>
          <ac:spMkLst>
            <pc:docMk/>
            <pc:sldMk cId="531640417" sldId="323"/>
            <ac:spMk id="11" creationId="{EC0BF5D9-2816-55EA-C097-DE1F5F1420C0}"/>
          </ac:spMkLst>
        </pc:spChg>
        <pc:graphicFrameChg chg="add mod">
          <ac:chgData name="Shannon Keeney" userId="928a54f0d31a2e0c" providerId="LiveId" clId="{F699A8C7-B115-497A-8A6E-28AB7336ACE3}" dt="2025-12-12T02:26:16.705" v="558"/>
          <ac:graphicFrameMkLst>
            <pc:docMk/>
            <pc:sldMk cId="531640417" sldId="323"/>
            <ac:graphicFrameMk id="13" creationId="{C53DEF41-5756-D022-210C-9E8722997E42}"/>
          </ac:graphicFrameMkLst>
        </pc:graphicFrameChg>
      </pc:sldChg>
      <pc:sldChg chg="addSp delSp modSp mod">
        <pc:chgData name="Shannon Keeney" userId="928a54f0d31a2e0c" providerId="LiveId" clId="{F699A8C7-B115-497A-8A6E-28AB7336ACE3}" dt="2025-12-10T03:38:55.850" v="273" actId="1076"/>
        <pc:sldMkLst>
          <pc:docMk/>
          <pc:sldMk cId="1737216053" sldId="324"/>
        </pc:sldMkLst>
        <pc:spChg chg="add mod">
          <ac:chgData name="Shannon Keeney" userId="928a54f0d31a2e0c" providerId="LiveId" clId="{F699A8C7-B115-497A-8A6E-28AB7336ACE3}" dt="2025-12-10T03:38:55.850" v="273" actId="1076"/>
          <ac:spMkLst>
            <pc:docMk/>
            <pc:sldMk cId="1737216053" sldId="324"/>
            <ac:spMk id="3" creationId="{243F4340-6175-0CC6-DB79-C647D9C60BE9}"/>
          </ac:spMkLst>
        </pc:spChg>
        <pc:spChg chg="mod">
          <ac:chgData name="Shannon Keeney" userId="928a54f0d31a2e0c" providerId="LiveId" clId="{F699A8C7-B115-497A-8A6E-28AB7336ACE3}" dt="2025-12-10T03:26:50.674" v="214" actId="20577"/>
          <ac:spMkLst>
            <pc:docMk/>
            <pc:sldMk cId="1737216053" sldId="324"/>
            <ac:spMk id="6" creationId="{61520BB6-9171-755C-6A53-A94B681E25EC}"/>
          </ac:spMkLst>
        </pc:spChg>
        <pc:picChg chg="mod modCrop">
          <ac:chgData name="Shannon Keeney" userId="928a54f0d31a2e0c" providerId="LiveId" clId="{F699A8C7-B115-497A-8A6E-28AB7336ACE3}" dt="2025-12-10T03:38:18.303" v="268" actId="732"/>
          <ac:picMkLst>
            <pc:docMk/>
            <pc:sldMk cId="1737216053" sldId="324"/>
            <ac:picMk id="4" creationId="{2A7D73E8-09A1-3961-9BA6-B67E66C96105}"/>
          </ac:picMkLst>
        </pc:picChg>
      </pc:sldChg>
      <pc:sldChg chg="modSp mod">
        <pc:chgData name="Shannon Keeney" userId="928a54f0d31a2e0c" providerId="LiveId" clId="{F699A8C7-B115-497A-8A6E-28AB7336ACE3}" dt="2025-12-12T02:22:22.777" v="549" actId="20577"/>
        <pc:sldMkLst>
          <pc:docMk/>
          <pc:sldMk cId="2277984952" sldId="325"/>
        </pc:sldMkLst>
        <pc:spChg chg="mod">
          <ac:chgData name="Shannon Keeney" userId="928a54f0d31a2e0c" providerId="LiveId" clId="{F699A8C7-B115-497A-8A6E-28AB7336ACE3}" dt="2025-12-12T02:22:22.777" v="549" actId="20577"/>
          <ac:spMkLst>
            <pc:docMk/>
            <pc:sldMk cId="2277984952" sldId="325"/>
            <ac:spMk id="3" creationId="{C606AC45-19C2-B2D9-A4EC-657C8386A08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28a54f0d31a2e0c/Desktop/Data%20Projects/Visualizing%20Data_Deliverable%20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Wolf</a:t>
            </a:r>
            <a:r>
              <a:rPr lang="en-US" baseline="0"/>
              <a:t> and Elk Count by Year, 1995-2022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'Average by Year Charts'!$B$1</c:f>
              <c:strCache>
                <c:ptCount val="1"/>
                <c:pt idx="0">
                  <c:v>WC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0070C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'Average by Year Charts'!$A$2:$A$29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'Average by Year Charts'!$B$2:$B$29</c:f>
              <c:numCache>
                <c:formatCode>General</c:formatCode>
                <c:ptCount val="28"/>
                <c:pt idx="0">
                  <c:v>51</c:v>
                </c:pt>
                <c:pt idx="1">
                  <c:v>58</c:v>
                </c:pt>
                <c:pt idx="2">
                  <c:v>94.666669999999996</c:v>
                </c:pt>
                <c:pt idx="3">
                  <c:v>113.2</c:v>
                </c:pt>
                <c:pt idx="4">
                  <c:v>118.33329999999999</c:v>
                </c:pt>
                <c:pt idx="5">
                  <c:v>119</c:v>
                </c:pt>
                <c:pt idx="6">
                  <c:v>137.33330000000001</c:v>
                </c:pt>
                <c:pt idx="7">
                  <c:v>154.5</c:v>
                </c:pt>
                <c:pt idx="8">
                  <c:v>173.4</c:v>
                </c:pt>
                <c:pt idx="9">
                  <c:v>157.75</c:v>
                </c:pt>
                <c:pt idx="10">
                  <c:v>122.2353</c:v>
                </c:pt>
                <c:pt idx="11">
                  <c:v>143</c:v>
                </c:pt>
                <c:pt idx="12">
                  <c:v>152.19999999999999</c:v>
                </c:pt>
                <c:pt idx="13">
                  <c:v>103</c:v>
                </c:pt>
                <c:pt idx="14">
                  <c:v>96.666669999999996</c:v>
                </c:pt>
                <c:pt idx="15">
                  <c:v>97.333330000000004</c:v>
                </c:pt>
                <c:pt idx="16">
                  <c:v>87.090909999999994</c:v>
                </c:pt>
                <c:pt idx="17">
                  <c:v>87.285709999999995</c:v>
                </c:pt>
                <c:pt idx="18">
                  <c:v>98.6</c:v>
                </c:pt>
                <c:pt idx="19">
                  <c:v>99.5</c:v>
                </c:pt>
                <c:pt idx="20">
                  <c:v>103</c:v>
                </c:pt>
                <c:pt idx="21">
                  <c:v>105.25</c:v>
                </c:pt>
                <c:pt idx="22">
                  <c:v>97</c:v>
                </c:pt>
                <c:pt idx="23">
                  <c:v>80</c:v>
                </c:pt>
                <c:pt idx="24">
                  <c:v>95.5</c:v>
                </c:pt>
                <c:pt idx="25">
                  <c:v>101.25</c:v>
                </c:pt>
                <c:pt idx="26">
                  <c:v>110.111</c:v>
                </c:pt>
                <c:pt idx="27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C1-4B1F-A521-4FD13AAD2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3894079"/>
        <c:axId val="1783895039"/>
      </c:lineChart>
      <c:lineChart>
        <c:grouping val="standard"/>
        <c:varyColors val="0"/>
        <c:ser>
          <c:idx val="1"/>
          <c:order val="1"/>
          <c:tx>
            <c:strRef>
              <c:f>'Average by Year Charts'!$C$1</c:f>
              <c:strCache>
                <c:ptCount val="1"/>
                <c:pt idx="0">
                  <c:v>PED</c:v>
                </c:pt>
              </c:strCache>
            </c:strRef>
          </c:tx>
          <c:spPr>
            <a:ln w="28575" cap="rnd">
              <a:solidFill>
                <a:srgbClr val="A5A5A5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A5A5A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'Average by Year Charts'!$A$2:$A$29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'Average by Year Charts'!$C$2:$C$29</c:f>
              <c:numCache>
                <c:formatCode>General</c:formatCode>
                <c:ptCount val="28"/>
                <c:pt idx="0">
                  <c:v>15.061783</c:v>
                </c:pt>
                <c:pt idx="1">
                  <c:v>14.734680000000001</c:v>
                </c:pt>
                <c:pt idx="2">
                  <c:v>12.92558</c:v>
                </c:pt>
                <c:pt idx="3">
                  <c:v>11.93242</c:v>
                </c:pt>
                <c:pt idx="4">
                  <c:v>12.68741</c:v>
                </c:pt>
                <c:pt idx="5">
                  <c:v>14.13208</c:v>
                </c:pt>
                <c:pt idx="6">
                  <c:v>12.79922</c:v>
                </c:pt>
                <c:pt idx="7">
                  <c:v>11.206530000000001</c:v>
                </c:pt>
                <c:pt idx="8">
                  <c:v>9.2054559999999999</c:v>
                </c:pt>
                <c:pt idx="9">
                  <c:v>8.7089999999999996</c:v>
                </c:pt>
                <c:pt idx="10">
                  <c:v>8.9837640000000007</c:v>
                </c:pt>
                <c:pt idx="11">
                  <c:v>7.7820400000000003</c:v>
                </c:pt>
                <c:pt idx="12">
                  <c:v>6.6522220000000001</c:v>
                </c:pt>
                <c:pt idx="13">
                  <c:v>6.7860469999999999</c:v>
                </c:pt>
                <c:pt idx="14">
                  <c:v>6.3003130000000001</c:v>
                </c:pt>
                <c:pt idx="15">
                  <c:v>5.5621179999999999</c:v>
                </c:pt>
                <c:pt idx="16">
                  <c:v>4.347931</c:v>
                </c:pt>
                <c:pt idx="17">
                  <c:v>4.1378000000000004</c:v>
                </c:pt>
                <c:pt idx="18">
                  <c:v>4.1588890000000003</c:v>
                </c:pt>
                <c:pt idx="19">
                  <c:v>4.7081299999999997</c:v>
                </c:pt>
                <c:pt idx="20">
                  <c:v>4.8880800000000004</c:v>
                </c:pt>
                <c:pt idx="21">
                  <c:v>5.090916</c:v>
                </c:pt>
                <c:pt idx="22">
                  <c:v>5.4708600000000001</c:v>
                </c:pt>
                <c:pt idx="23">
                  <c:v>7.24092</c:v>
                </c:pt>
                <c:pt idx="24">
                  <c:v>6.3674600000000003</c:v>
                </c:pt>
                <c:pt idx="25">
                  <c:v>6.0608700000000004</c:v>
                </c:pt>
                <c:pt idx="26">
                  <c:v>6.0089199999999998</c:v>
                </c:pt>
                <c:pt idx="27">
                  <c:v>5.965592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0C1-4B1F-A521-4FD13AAD2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1519743"/>
        <c:axId val="1761541823"/>
      </c:lineChart>
      <c:catAx>
        <c:axId val="1783894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3895039"/>
        <c:crosses val="autoZero"/>
        <c:auto val="1"/>
        <c:lblAlgn val="ctr"/>
        <c:lblOffset val="100"/>
        <c:noMultiLvlLbl val="0"/>
      </c:catAx>
      <c:valAx>
        <c:axId val="1783895039"/>
        <c:scaling>
          <c:orientation val="minMax"/>
          <c:max val="18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Wolf</a:t>
                </a:r>
                <a:r>
                  <a:rPr lang="en-US" baseline="0"/>
                  <a:t> Count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3894079"/>
        <c:crosses val="autoZero"/>
        <c:crossBetween val="between"/>
      </c:valAx>
      <c:valAx>
        <c:axId val="17615418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Predicted</a:t>
                </a:r>
                <a:r>
                  <a:rPr lang="en-US" baseline="0"/>
                  <a:t> elk count 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1519743"/>
        <c:crosses val="max"/>
        <c:crossBetween val="between"/>
      </c:valAx>
      <c:catAx>
        <c:axId val="1761519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61541823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B84E7ED-3EE6-4849-A739-BE382AF8E6DE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D6FFFC8-5C4E-42EB-B69D-EE13BC1AB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2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A4898-DBD2-4941-A5FE-98523EF3E7C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81F1B-F503-4E4D-89B2-DF3033BB884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9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93D60-AB1B-45CD-82C6-F07A4FD6BD9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4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C058-CDA6-4D34-B354-FCFC3C0FA300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B816-A4A2-4D06-81FC-39BC12F53E88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6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1279D-652A-45C4-B2D0-5F51607D4478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9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C7D85-62D6-485D-AB3F-A05F6D06460B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4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AD74-BC98-4440-8DEC-A6D03D906DDB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4DBB3-6AC7-4866-A242-93AC76C60A03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2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F52FE-B4BB-433F-AE9B-D75B087A98AC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2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BC5BA-066B-4E55-81CF-FC80A286655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CA346-1D69-4346-957A-D952C96C19A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35D4A-83EB-4791-9BF1-D69DA8918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6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7BBA-E62F-49AB-8F0B-41340D8CF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706" y="1454108"/>
            <a:ext cx="5925989" cy="3167510"/>
          </a:xfrm>
        </p:spPr>
        <p:txBody>
          <a:bodyPr anchor="b">
            <a:normAutofit fontScale="90000"/>
          </a:bodyPr>
          <a:lstStyle/>
          <a:p>
            <a:pPr algn="r"/>
            <a:br>
              <a:rPr lang="en-US" sz="5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/>
              <a:t>An Examination of the Relationship of Yellowstone Wolf and Elk Populations from 1995 to 2022</a:t>
            </a:r>
            <a:br>
              <a:rPr lang="en-US" dirty="0"/>
            </a:br>
            <a:endParaRPr lang="en-US" sz="5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6CCEA-594E-485E-BCD7-C5279DF3A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7606" y="5199862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Student: Shannon Keeney</a:t>
            </a:r>
          </a:p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Professor: Dr. Rafael Perez Pena</a:t>
            </a:r>
          </a:p>
        </p:txBody>
      </p:sp>
      <p:pic>
        <p:nvPicPr>
          <p:cNvPr id="3076" name="Picture 4" descr="Image result for colorado mountain college logo">
            <a:extLst>
              <a:ext uri="{FF2B5EF4-FFF2-40B4-BE49-F238E27FC236}">
                <a16:creationId xmlns:a16="http://schemas.microsoft.com/office/drawing/2014/main" id="{D7B0F1FC-E6C4-46EE-A6EF-1F74F7FFF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7762" y="1848142"/>
            <a:ext cx="2621772" cy="183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BBEB0-C09E-4D2E-9FB0-7B7CB4A0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8114F-9526-4839-9A33-3DAFE1CE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1</a:t>
            </a:fld>
            <a:endParaRPr lang="en-US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525D75A-89D3-4F9A-B2AC-6079E6794C60}"/>
              </a:ext>
            </a:extLst>
          </p:cNvPr>
          <p:cNvSpPr txBox="1">
            <a:spLocks/>
          </p:cNvSpPr>
          <p:nvPr/>
        </p:nvSpPr>
        <p:spPr>
          <a:xfrm>
            <a:off x="855813" y="5226255"/>
            <a:ext cx="5925987" cy="1312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Analytics and Visualization Fair </a:t>
            </a:r>
          </a:p>
        </p:txBody>
      </p:sp>
    </p:spTree>
    <p:extLst>
      <p:ext uri="{BB962C8B-B14F-4D97-AF65-F5344CB8AC3E}">
        <p14:creationId xmlns:p14="http://schemas.microsoft.com/office/powerpoint/2010/main" val="25520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97CD-9312-4FF9-B05A-553CB1D2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64642-C0D4-4536-A026-7E73D460D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455" y="2040746"/>
            <a:ext cx="11361682" cy="435988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 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 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4" descr="Image result for colorado mountain college logo">
            <a:extLst>
              <a:ext uri="{FF2B5EF4-FFF2-40B4-BE49-F238E27FC236}">
                <a16:creationId xmlns:a16="http://schemas.microsoft.com/office/drawing/2014/main" id="{9D4358B9-E153-41D5-8FE7-19B9887B0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42" y="0"/>
            <a:ext cx="1796716" cy="125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8503A-5EB6-4B2B-9C60-75A5FEC4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9B4EFB-716F-4F43-B34C-696B1563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8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75E3-5451-D224-009E-2F6757B3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88AF-E4C7-D9A1-ECD7-B985FC65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039A-F179-CBA8-2414-DEAAD5C28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455" y="2040746"/>
            <a:ext cx="11361682" cy="4359884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Wolves were extirpated in Yellowstone National Park in 1926</a:t>
            </a:r>
          </a:p>
          <a:p>
            <a:pPr lvl="1"/>
            <a:r>
              <a:rPr lang="en-US" dirty="0"/>
              <a:t>Herbivore species, like elk, lost a natural predator</a:t>
            </a:r>
          </a:p>
          <a:p>
            <a:pPr lvl="1"/>
            <a:r>
              <a:rPr lang="en-US" dirty="0"/>
              <a:t>Without wolves, elk would eventually reach their carrying capacity in the ecosystem</a:t>
            </a:r>
          </a:p>
          <a:p>
            <a:pPr lvl="1"/>
            <a:r>
              <a:rPr lang="en-US" dirty="0"/>
              <a:t>Wolves reintroduced in 1995 and 1996</a:t>
            </a:r>
          </a:p>
          <a:p>
            <a:pPr lvl="1"/>
            <a:r>
              <a:rPr lang="en-US" dirty="0"/>
              <a:t>The purpose of this project is to visually examine the relationship between the Yellowstone wolf population and the elk population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4" descr="Image result for colorado mountain college logo">
            <a:extLst>
              <a:ext uri="{FF2B5EF4-FFF2-40B4-BE49-F238E27FC236}">
                <a16:creationId xmlns:a16="http://schemas.microsoft.com/office/drawing/2014/main" id="{0DEE4F0C-76EF-849C-D21A-A90EB171E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42" y="0"/>
            <a:ext cx="1796716" cy="125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DE38F-9B3B-89E8-8B9A-1C5F0D13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0E79F3-24F2-4116-905C-B9108A2A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9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AC8A-6C1E-C011-D1CD-3F6C751C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93CE-6349-9211-EEAC-14E94C6D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Graph 1</a:t>
            </a:r>
          </a:p>
        </p:txBody>
      </p:sp>
      <p:pic>
        <p:nvPicPr>
          <p:cNvPr id="7" name="Picture 4" descr="Image result for colorado mountain college logo">
            <a:extLst>
              <a:ext uri="{FF2B5EF4-FFF2-40B4-BE49-F238E27FC236}">
                <a16:creationId xmlns:a16="http://schemas.microsoft.com/office/drawing/2014/main" id="{BCD8DA07-5344-301D-5F2B-239F0852E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42" y="0"/>
            <a:ext cx="1796716" cy="125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75E45-004E-F70B-4BB3-072C6422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102859-DF47-2F9E-56EC-21CB7DAB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5CC6A-7BC5-4AAC-BAEE-B990537AF0F9}"/>
              </a:ext>
            </a:extLst>
          </p:cNvPr>
          <p:cNvSpPr txBox="1"/>
          <p:nvPr/>
        </p:nvSpPr>
        <p:spPr>
          <a:xfrm>
            <a:off x="7740073" y="3001818"/>
            <a:ext cx="38911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 1 shows the average wolf count and the predicted elk count, the left y-axis is for the wolf count, and the right y-axis is for the predicted elk count. The populations stabilize in 2009.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60DC9-5B1C-05C9-ACC4-ABE7CF6F8EB1}"/>
              </a:ext>
            </a:extLst>
          </p:cNvPr>
          <p:cNvSpPr/>
          <p:nvPr/>
        </p:nvSpPr>
        <p:spPr>
          <a:xfrm>
            <a:off x="3962401" y="3361459"/>
            <a:ext cx="2564534" cy="1133764"/>
          </a:xfrm>
          <a:prstGeom prst="rect">
            <a:avLst/>
          </a:prstGeom>
          <a:solidFill>
            <a:schemeClr val="accent2">
              <a:lumMod val="20000"/>
              <a:lumOff val="80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BF5D9-2816-55EA-C097-DE1F5F1420C0}"/>
              </a:ext>
            </a:extLst>
          </p:cNvPr>
          <p:cNvSpPr txBox="1"/>
          <p:nvPr/>
        </p:nvSpPr>
        <p:spPr>
          <a:xfrm>
            <a:off x="505691" y="5809673"/>
            <a:ext cx="187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Cassidy et al., 2024</a:t>
            </a:r>
          </a:p>
          <a:p>
            <a:r>
              <a:rPr lang="en-US" sz="1200" dirty="0"/>
              <a:t>Yellowstone National Park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53DEF41-5756-D022-210C-9E8722997E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0429737"/>
              </p:ext>
            </p:extLst>
          </p:nvPr>
        </p:nvGraphicFramePr>
        <p:xfrm>
          <a:off x="505691" y="2040746"/>
          <a:ext cx="6666634" cy="3713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3164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E2E6-AE6D-C55F-C22B-2A30AFEB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57C2-9A98-2607-DEA6-18C55E32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Graph 2</a:t>
            </a:r>
          </a:p>
        </p:txBody>
      </p:sp>
      <p:pic>
        <p:nvPicPr>
          <p:cNvPr id="7" name="Picture 4" descr="Image result for colorado mountain college logo">
            <a:extLst>
              <a:ext uri="{FF2B5EF4-FFF2-40B4-BE49-F238E27FC236}">
                <a16:creationId xmlns:a16="http://schemas.microsoft.com/office/drawing/2014/main" id="{F0A9E154-D838-B5ED-C033-A4D174CF5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42" y="0"/>
            <a:ext cx="1796716" cy="125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E94FC-CD00-6F21-CDF0-ADE6AB36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C76E16-C0AE-7ACA-5208-E54D4AF6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7D73E8-09A1-3961-9BA6-B67E66C961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93" t="24161" r="38077" b="11747"/>
          <a:stretch>
            <a:fillRect/>
          </a:stretch>
        </p:blipFill>
        <p:spPr bwMode="auto">
          <a:xfrm>
            <a:off x="5793509" y="811292"/>
            <a:ext cx="4985558" cy="52501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520BB6-9171-755C-6A53-A94B681E25EC}"/>
              </a:ext>
            </a:extLst>
          </p:cNvPr>
          <p:cNvSpPr txBox="1"/>
          <p:nvPr/>
        </p:nvSpPr>
        <p:spPr>
          <a:xfrm>
            <a:off x="960100" y="2530764"/>
            <a:ext cx="4063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 2 shows the average wolf count and the predicted elk count from 1995 to 2022 on two graphs with the same x-axis and 2 y-axis.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F4340-6175-0CC6-DB79-C647D9C60BE9}"/>
              </a:ext>
            </a:extLst>
          </p:cNvPr>
          <p:cNvSpPr txBox="1"/>
          <p:nvPr/>
        </p:nvSpPr>
        <p:spPr>
          <a:xfrm>
            <a:off x="9931400" y="5978060"/>
            <a:ext cx="187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Cassidy et al., 2024</a:t>
            </a:r>
          </a:p>
          <a:p>
            <a:r>
              <a:rPr lang="en-US" sz="1200" dirty="0"/>
              <a:t>Yellowstone National Park</a:t>
            </a:r>
          </a:p>
        </p:txBody>
      </p:sp>
    </p:spTree>
    <p:extLst>
      <p:ext uri="{BB962C8B-B14F-4D97-AF65-F5344CB8AC3E}">
        <p14:creationId xmlns:p14="http://schemas.microsoft.com/office/powerpoint/2010/main" val="173721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F54A-4C73-5D8E-0522-391E40D4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E142-0F8B-8FC9-4C1B-C9562406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6AC45-19C2-B2D9-A4EC-657C8386A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455" y="2040746"/>
            <a:ext cx="11361682" cy="4359884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After Yellowstone wolves were reintroduced, the elk population has been on a downward trend. </a:t>
            </a:r>
          </a:p>
          <a:p>
            <a:pPr lvl="1"/>
            <a:r>
              <a:rPr lang="en-US" dirty="0"/>
              <a:t>It also shows that after small spikes in the elk population that there is also a small spike in the wolf population. Which then is followed by a small decrease in both populations. </a:t>
            </a:r>
          </a:p>
          <a:p>
            <a:pPr lvl="1"/>
            <a:r>
              <a:rPr lang="en-US" dirty="0"/>
              <a:t>Both populations leveled out in 2009 and have had small fluctuations since then.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This project visually analyzed the population trends; further analysis </a:t>
            </a:r>
            <a:r>
              <a:rPr lang="en-US">
                <a:cs typeface="Arial" panose="020B0604020202020204" pitchFamily="34" charset="0"/>
              </a:rPr>
              <a:t>is needed </a:t>
            </a:r>
            <a:r>
              <a:rPr lang="en-US" dirty="0">
                <a:cs typeface="Arial" panose="020B0604020202020204" pitchFamily="34" charset="0"/>
              </a:rPr>
              <a:t>to confirm these insights</a:t>
            </a:r>
          </a:p>
        </p:txBody>
      </p:sp>
      <p:pic>
        <p:nvPicPr>
          <p:cNvPr id="7" name="Picture 4" descr="Image result for colorado mountain college logo">
            <a:extLst>
              <a:ext uri="{FF2B5EF4-FFF2-40B4-BE49-F238E27FC236}">
                <a16:creationId xmlns:a16="http://schemas.microsoft.com/office/drawing/2014/main" id="{A72ABC04-E957-9F17-BA66-478A0E9A9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42" y="0"/>
            <a:ext cx="1796716" cy="125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B20E8-C161-7821-6C5D-8DE94967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Visualizing Data Fall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3F0D93-8C26-1677-394C-0A50AA74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35D4A-83EB-4791-9BF1-D69DA89181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8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11249</TotalTime>
  <Words>310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An Examination of the Relationship of Yellowstone Wolf and Elk Populations from 1995 to 2022 </vt:lpstr>
      <vt:lpstr>Outline</vt:lpstr>
      <vt:lpstr>Introduction</vt:lpstr>
      <vt:lpstr>Graph 1</vt:lpstr>
      <vt:lpstr>Graph 2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Principles of Macroeconomics</dc:title>
  <dc:creator>Perez, Rafael</dc:creator>
  <cp:lastModifiedBy>Shannon Keeney</cp:lastModifiedBy>
  <cp:revision>48</cp:revision>
  <cp:lastPrinted>2022-08-22T17:10:49Z</cp:lastPrinted>
  <dcterms:created xsi:type="dcterms:W3CDTF">2022-08-22T00:53:18Z</dcterms:created>
  <dcterms:modified xsi:type="dcterms:W3CDTF">2025-12-12T02:26:28Z</dcterms:modified>
</cp:coreProperties>
</file>